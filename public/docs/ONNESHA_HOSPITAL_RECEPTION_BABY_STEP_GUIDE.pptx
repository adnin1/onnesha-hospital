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ONNESHA HOSPITAL MANAGEMENT SYSTEM</a:t>
            </a:r>
          </a:p>
          <a:p>
            <a:pPr algn="ctr">
              <a:spcBef>
                <a:spcPts val="1400"/>
              </a:spcBef>
              <a:defRPr sz="2400" b="1">
                <a:solidFill>
                  <a:srgbClr val="80DEEA"/>
                </a:solidFill>
                <a:latin typeface="Segoe UI"/>
              </a:defRPr>
            </a:pPr>
            <a:r>
              <a:t>রিসেপশন এ-টু-জেড সহজ নির্দেশিকা (Master Reception Guide)</a:t>
            </a:r>
          </a:p>
          <a:p>
            <a:pPr algn="ctr">
              <a:spcBef>
                <a:spcPts val="1000"/>
              </a:spcBef>
              <a:defRPr sz="1800">
                <a:solidFill>
                  <a:srgbClr val="E0F2F1"/>
                </a:solidFill>
                <a:latin typeface="Segoe UI"/>
              </a:defRPr>
            </a:pPr>
            <a:r>
              <a:t>ছোট বাচ্চাদের মতো সহজ ধাপে সম্পূর্ণ হাসপাতালের রিসেপশন ও কাউন্টার পরিচালনা</a:t>
            </a:r>
          </a:p>
          <a:p>
            <a:pPr algn="ctr">
              <a:spcBef>
                <a:spcPts val="2400"/>
              </a:spcBef>
              <a:defRPr sz="1300">
                <a:solidFill>
                  <a:srgbClr val="FFD54F"/>
                </a:solidFill>
                <a:latin typeface="Segoe UI"/>
              </a:defRPr>
            </a:pPr>
            <a:r>
              <a:t>লাইভ সিস্টেম: https://onnesha-hospital.pages.dev  |  সংস্করণ: ১.১.৯০  |  সম্পূর্ণ নির্ভুল ও নিরাপদ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১. সকালের লগইন ও শিফট শুরু (Login &amp; Opening Cash)</a:t>
            </a:r>
          </a:p>
          <a:p>
            <a:pPr>
              <a:defRPr sz="1300">
                <a:solidFill>
                  <a:srgbClr val="C8E6F0"/>
                </a:solidFill>
                <a:latin typeface="Segoe UI"/>
              </a:defRPr>
            </a:pPr>
            <a:r>
              <a:t>কম্পিউটার চালু করে রিসেপশন শুরু করার প্রথম ৩টি সহজ ধাপ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28600"/>
            <a:ext cx="2011680" cy="594360"/>
          </a:xfrm>
          <a:prstGeom prst="roundRect">
            <a:avLst/>
          </a:prstGeom>
          <a:solidFill>
            <a:srgbClr val="FF6F00"/>
          </a:solidFill>
          <a:ln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ধাপ ০১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2918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D47A1"/>
                </a:solidFill>
                <a:latin typeface="Segoe UI"/>
              </a:defRPr>
            </a:pPr>
            <a:r>
              <a:t>ধাপ ১: ব্রাউজার ও লিঙ্ক ওপেন</a:t>
            </a:r>
          </a:p>
          <a:p>
            <a:pPr>
              <a:defRPr sz="1100" b="1">
                <a:solidFill>
                  <a:srgbClr val="009688"/>
                </a:solidFill>
                <a:latin typeface="Segoe UI"/>
              </a:defRPr>
            </a:pPr>
            <a:r>
              <a:t>[Login Protocol]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কম্পিউটারে Google Chrome বা Edge খুলুন।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লিঙ্ক টাইপ করুন: onnesha-hospital.pages.dev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লগইন স্ক্রিন আসলে নিজের ইউজারনেম ও পাসওয়ার্ড দিন।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কাউন্টার সিলেক্ট করুন (কাউন্টার ১ বা ২)।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লগইন বাটনে ক্লিক করলেই মূল ড্যাশবোর্ড চলে আসবে।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2918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D47A1"/>
                </a:solidFill>
                <a:latin typeface="Segoe UI"/>
              </a:defRPr>
            </a:pPr>
            <a:r>
              <a:t>ধাপ ২: ওপেনিং ক্যাশ ড্রয়ার ইনপুট</a:t>
            </a:r>
          </a:p>
          <a:p>
            <a:pPr>
              <a:defRPr sz="1100" b="1">
                <a:solidFill>
                  <a:srgbClr val="009688"/>
                </a:solidFill>
                <a:latin typeface="Segoe UI"/>
              </a:defRPr>
            </a:pPr>
            <a:r>
              <a:t>[Cash Opening]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দিনের শুরুতে ক্যাশ ড্রয়ারে খুচরা টাকা থাকে (যেমন ৳ ৫০০ বা ৳ ১,০০০)।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সিস্টেমে 'Open Shift' বাটন দেখতে পাবেন।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ড্রয়ারে যত টাকা আছে সেই এমাউন্টটি লিখে 'Start Shift' চাপুন।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এই টাকা আপনার মূল হিসাবের সাথে অটোমেটিক যুক্ত থাকবে।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সারাদিনের হিসাব স্বয়ংক্রিয়ভাবে মিলবে।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D47A1"/>
                </a:solidFill>
                <a:latin typeface="Segoe UI"/>
              </a:defRPr>
            </a:pPr>
            <a:r>
              <a:t>গোল্ডেন বেবি রুলস (সহজ নিয়ম)</a:t>
            </a:r>
          </a:p>
          <a:p>
            <a:pPr>
              <a:defRPr sz="1100" b="1">
                <a:solidFill>
                  <a:srgbClr val="009688"/>
                </a:solidFill>
                <a:latin typeface="Segoe UI"/>
              </a:defRPr>
            </a:pPr>
            <a:r>
              <a:t>[Baby Safety]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নিয়ম ১: নিজের পাসওয়ার্ড কাউকে বলবেন না।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নিয়ম ২: কাউন্টার ছাড়ার সময় স্ক্রিন লক করে যান।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নিয়ম ৩: প্রিন্টারের পাওয়ার ও পেপার রোল চেক করে নিন।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প্রিন্টারে পর্যাপ্ত ৮০ মিমি পেপার আছে কিনা নিশ্চিত করুন।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ইন্টারনেট কানেকশন ঠিক থাকলে উপরে সবুজ আইকন দেখাবে।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২. নতুন রোগী নিবন্ধন (New Patient Registration)</a:t>
            </a:r>
          </a:p>
          <a:p>
            <a:pPr>
              <a:defRPr sz="1300">
                <a:solidFill>
                  <a:srgbClr val="C8E6F0"/>
                </a:solidFill>
                <a:latin typeface="Segoe UI"/>
              </a:defRPr>
            </a:pPr>
            <a:r>
              <a:t>হাসপাতালে নতুন রোগী আসলে মাত্র ১ মিনিটে নিবন্ধন করার নিয়ম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28600"/>
            <a:ext cx="2011680" cy="594360"/>
          </a:xfrm>
          <a:prstGeom prst="roundRect">
            <a:avLst/>
          </a:prstGeom>
          <a:solidFill>
            <a:srgbClr val="FF6F00"/>
          </a:solidFill>
          <a:ln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ধাপ ০২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2918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D47A1"/>
                </a:solidFill>
                <a:latin typeface="Segoe UI"/>
              </a:defRPr>
            </a:pPr>
            <a:r>
              <a:t>ধাপ ১: 'New Patient' বাটন</a:t>
            </a:r>
          </a:p>
          <a:p>
            <a:pPr>
              <a:defRPr sz="1100" b="1">
                <a:solidFill>
                  <a:srgbClr val="009688"/>
                </a:solidFill>
                <a:latin typeface="Segoe UI"/>
              </a:defRPr>
            </a:pPr>
            <a:r>
              <a:t>[Form Open]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স্ক্রিনের উপরের বামে '+ New Patient' বাটনে ক্লিক করুন।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কীবোর্ড শর্টকাট: চাপুন Alt + N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সাথে সাথে একটি পরিষ্কার সহজ ফর্ম স্ক্রিনে ভেসে উঠবে।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রোগী পুরাতন হলে শুধু মোবাইল নম্বর দিয়ে সার্চ করুন।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2918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D47A1"/>
                </a:solidFill>
                <a:latin typeface="Segoe UI"/>
              </a:defRPr>
            </a:pPr>
            <a:r>
              <a:t>ধাপ ২: রোগীর তথ্য পূরণ</a:t>
            </a:r>
          </a:p>
          <a:p>
            <a:pPr>
              <a:defRPr sz="1100" b="1">
                <a:solidFill>
                  <a:srgbClr val="009688"/>
                </a:solidFill>
                <a:latin typeface="Segoe UI"/>
              </a:defRPr>
            </a:pPr>
            <a:r>
              <a:t>[Information Input]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১. রোগীর পুরো নাম লিখুন (বাংলা বা ইংরেজি)।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২. মোবাইল নম্বর (১১ ডিজিট বাধ্যতামূলক - এসএমএস যাবে)।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৩. বয়স (যেমন ২৫ বছর) ও লিঙ্গ (পুরুষ / মহিলা / অন্যান্য)।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৪. রক্তের গ্রুপ (জানা থাকলে নির্বাচন করুন)।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৫. ঠিকানা / জেলা নির্বাচন করুন।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D47A1"/>
                </a:solidFill>
                <a:latin typeface="Segoe UI"/>
              </a:defRPr>
            </a:pPr>
            <a:r>
              <a:t>ধাপ ৩: সংরক্ষণ ও আইডি তৈরি</a:t>
            </a:r>
          </a:p>
          <a:p>
            <a:pPr>
              <a:defRPr sz="1100" b="1">
                <a:solidFill>
                  <a:srgbClr val="009688"/>
                </a:solidFill>
                <a:latin typeface="Segoe UI"/>
              </a:defRPr>
            </a:pPr>
            <a:r>
              <a:t>[Unique ID Generation]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'Save Patient' বাটনে ক্লিক করুন।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সিস্টেম সাথে সাথে একটি ইউনিক Patient ID বানাবে (যেমনঃ OH-P-10025)।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রোগীর মোবাইলে সাথে সাথে কনফার্মেশন এসএমএস চলে যাবে।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এখন রোগী যে কোনো ডাক্তার বা টেস্টের জন্য রেডি।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৩. ডাক্তার অ্যাপয়েন্টমেন্ট ও টিকিট বুকিং (OPD Booking)</a:t>
            </a:r>
          </a:p>
          <a:p>
            <a:pPr>
              <a:defRPr sz="1300">
                <a:solidFill>
                  <a:srgbClr val="C8E6F0"/>
                </a:solidFill>
                <a:latin typeface="Segoe UI"/>
              </a:defRPr>
            </a:pPr>
            <a:r>
              <a:t>রোগী কোন ডাক্তারের কাছে যাবে তা খুব সহজে সিলেক্ট ও বুকিং করার নিয়ম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28600"/>
            <a:ext cx="2011680" cy="594360"/>
          </a:xfrm>
          <a:prstGeom prst="roundRect">
            <a:avLst/>
          </a:prstGeom>
          <a:solidFill>
            <a:srgbClr val="FF6F00"/>
          </a:solidFill>
          <a:ln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ধাপ ০৩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2918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D47A1"/>
                </a:solidFill>
                <a:latin typeface="Segoe UI"/>
              </a:defRPr>
            </a:pPr>
            <a:r>
              <a:t>ধাপ ১: ডিপার্টমেন্ট ও ডাক্তার নির্বাচন</a:t>
            </a:r>
          </a:p>
          <a:p>
            <a:pPr>
              <a:defRPr sz="1100" b="1">
                <a:solidFill>
                  <a:srgbClr val="009688"/>
                </a:solidFill>
                <a:latin typeface="Segoe UI"/>
              </a:defRPr>
            </a:pPr>
            <a:r>
              <a:t>[Doctor Select]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রোগীকে জিজ্ঞেস করুন তার সমস্যা কি।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ডিপার্টমেন্ট লিস্ট থেকে বিভাগ বেছে নিন (যেমন মেডিসিন, হৃদরোগ, শিশু, গাইনি)।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আজকে উপস্থিত ডাক্তারদের তালিকা স্ক্রিনে দেখতে পাবেন।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যে ডাক্তার রোগী দেখাতে চান তার নামের পাশে ক্লিক করুন।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2918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D47A1"/>
                </a:solidFill>
                <a:latin typeface="Segoe UI"/>
              </a:defRPr>
            </a:pPr>
            <a:r>
              <a:t>ধাপ ২: শিফট ও সময় নির্বাচন</a:t>
            </a:r>
          </a:p>
          <a:p>
            <a:pPr>
              <a:defRPr sz="1100" b="1">
                <a:solidFill>
                  <a:srgbClr val="009688"/>
                </a:solidFill>
                <a:latin typeface="Segoe UI"/>
              </a:defRPr>
            </a:pPr>
            <a:r>
              <a:t>[Slot &amp; Fee]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ডাক্তার সাহেবের শিফট সিলেক্ট করুন (সকাল বা বিকাল)।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সিস্টেম আপনাকে স্বয়ংক্রিয় সিরিয়াল নম্বর দেখাবে (যেমন সিরিয়াল # ০৭)।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ভিজিট ফি অটোমেটিক স্ক্রিনে চলে আসবে (যেমন ৳ ৬০০ বা ৳ ৮০০)।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কোনো রেফারাল ডাক্তার থাকলে ড্রপডাউন থেকে সিলেক্ট করতে পারেন।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D47A1"/>
                </a:solidFill>
                <a:latin typeface="Segoe UI"/>
              </a:defRPr>
            </a:pPr>
            <a:r>
              <a:t>ধাপ ৩: টিকিট নিশ্চিতকরণ</a:t>
            </a:r>
          </a:p>
          <a:p>
            <a:pPr>
              <a:defRPr sz="1100" b="1">
                <a:solidFill>
                  <a:srgbClr val="009688"/>
                </a:solidFill>
                <a:latin typeface="Segoe UI"/>
              </a:defRPr>
            </a:pPr>
            <a:r>
              <a:t>[Token Finalize]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'Confirm Appointment' বাটনে ক্লিক করুন।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সাথে সাথে থার্মাল প্রিন্টারে প্রেসক্রিপশন ও টোকেন স্লিপ প্রিন্ট হবে।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রোগীকে হাসিমুখে বলুন: 'আপনার সিরিয়াল ৭, রুম নাম্বার ২০২ এ গিয়ে বসুন'।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ডাক্তার সাহেবের কম্পিউটারেও রোগীর নাম অটোমেটিক চলে যাবে।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৪. ৮০ মিমি থার্মাল টোকেন প্রিন্ট (Thermal Receipt Print)</a:t>
            </a:r>
          </a:p>
          <a:p>
            <a:pPr>
              <a:defRPr sz="1300">
                <a:solidFill>
                  <a:srgbClr val="C8E6F0"/>
                </a:solidFill>
                <a:latin typeface="Segoe UI"/>
              </a:defRPr>
            </a:pPr>
            <a:r>
              <a:t>রোগীর হাতে টোকেন স্লিপ প্রিন্ট করে দেওয়ার সহজ পদ্ধতি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28600"/>
            <a:ext cx="2011680" cy="594360"/>
          </a:xfrm>
          <a:prstGeom prst="roundRect">
            <a:avLst/>
          </a:prstGeom>
          <a:solidFill>
            <a:srgbClr val="FF6F00"/>
          </a:solidFill>
          <a:ln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ধাপ ০৪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2918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D47A1"/>
                </a:solidFill>
                <a:latin typeface="Segoe UI"/>
              </a:defRPr>
            </a:pPr>
            <a:r>
              <a:t>স্লিপে যা যা স্বয়ংক্রিয় ছাপা হবে</a:t>
            </a:r>
          </a:p>
          <a:p>
            <a:pPr>
              <a:defRPr sz="1100" b="1">
                <a:solidFill>
                  <a:srgbClr val="009688"/>
                </a:solidFill>
                <a:latin typeface="Segoe UI"/>
              </a:defRPr>
            </a:pPr>
            <a:r>
              <a:t>[Receipt Content]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হাসপাতালের নাম ও লোগো (Onnesha Hospital)।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টোকেন ও সিরিয়াল নম্বর (বড় অক্ষরে স্পষ্ট দেখা যাবে)।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রোগীর নাম, বয়স, জেন্ডার ও মোবাইল নম্বর।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ডাক্তারের নাম, স্পেশালিটি ও রুম নম্বর (যেমন Room: 204)।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তারিখ ও সময় এবং বারকোড (যা দিয়ে ডাক্তার স্ক্যান করতে পারেন)।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2918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D47A1"/>
                </a:solidFill>
                <a:latin typeface="Segoe UI"/>
              </a:defRPr>
            </a:pPr>
            <a:r>
              <a:t>১-ক্লিক প্রিন্ট করার উপায়</a:t>
            </a:r>
          </a:p>
          <a:p>
            <a:pPr>
              <a:defRPr sz="1100" b="1">
                <a:solidFill>
                  <a:srgbClr val="009688"/>
                </a:solidFill>
                <a:latin typeface="Segoe UI"/>
              </a:defRPr>
            </a:pPr>
            <a:r>
              <a:t>[1-Click Printing]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বুকিং শেষ হওয়ামাত্র প্রিন্ট ডায়ালগ স্বয়ংক্রিয় ওপেন হবে।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কীবোর্ড শর্টকাট: Ctrl + P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এন্টার (Enter) চাপলেই সাথে সাথে ৮০ মিমি প্রিন্টার থেকে স্লিপ বের হবে।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স্লিপটি ছিঁড়ে সুন্দর করে রোগীর হাতে তুলে দিন।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D47A1"/>
                </a:solidFill>
                <a:latin typeface="Segoe UI"/>
              </a:defRPr>
            </a:pPr>
            <a:r>
              <a:t>প্রিন্টারে সমস্যা হলে সমাধান</a:t>
            </a:r>
          </a:p>
          <a:p>
            <a:pPr>
              <a:defRPr sz="1100" b="1">
                <a:solidFill>
                  <a:srgbClr val="009688"/>
                </a:solidFill>
                <a:latin typeface="Segoe UI"/>
              </a:defRPr>
            </a:pPr>
            <a:r>
              <a:t>[Troubleshooting]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সমস্যা ১: কাগজ বের হচ্ছে না? -&gt; প্রিন্টারে পেপারের ঢাকনা ঠিকমতো লাগানো আছে কিনা দেখুন।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সমস্যা ২: লেখা হালকা আসছে? -&gt; থার্মাল পেপার উল্টো লাগানো থাকলে উল্টে দিন।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সমস্যা ৩: লাল বাতি জ্বলছে? -&gt; প্রিন্টারে কাগজ শেষ হয়ে গেছে, নতুন পেপার রোল লাগান।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৫. বিল গ্রহণ: ক্যাশ, বিকাশ ও কার্ড (Billing &amp; Payments)</a:t>
            </a:r>
          </a:p>
          <a:p>
            <a:pPr>
              <a:defRPr sz="1300">
                <a:solidFill>
                  <a:srgbClr val="C8E6F0"/>
                </a:solidFill>
                <a:latin typeface="Segoe UI"/>
              </a:defRPr>
            </a:pPr>
            <a:r>
              <a:t>টাকা নেওয়া ও মানি রিসিট তৈরির নির্ভুল পদ্ধতি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28600"/>
            <a:ext cx="2011680" cy="594360"/>
          </a:xfrm>
          <a:prstGeom prst="roundRect">
            <a:avLst/>
          </a:prstGeom>
          <a:solidFill>
            <a:srgbClr val="FF6F00"/>
          </a:solidFill>
          <a:ln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ধাপ ০৫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2918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D47A1"/>
                </a:solidFill>
                <a:latin typeface="Segoe UI"/>
              </a:defRPr>
            </a:pPr>
            <a:r>
              <a:t>ক্যাশ টাকা গ্রহণ (Cash)</a:t>
            </a:r>
          </a:p>
          <a:p>
            <a:pPr>
              <a:defRPr sz="1100" b="1">
                <a:solidFill>
                  <a:srgbClr val="009688"/>
                </a:solidFill>
                <a:latin typeface="Segoe UI"/>
              </a:defRPr>
            </a:pPr>
            <a:r>
              <a:t>[Cash Workflow]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রোগী ক্যাশ দিলে টাকা সুন্দর করে গুনে নিন।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স্ক্রিনে 'Cash' অপশন সিলেক্ট করা থাকবে।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প্রাপ্ত টাকার পরিমাণ লিখুন (যেমন ৳ ১,০০০ দিলে ফেরত ৳ ২০০)।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সিস্টেম নিজেই দেখিয়ে দেবে ফেরত (Change) কত দিতে হবে!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টাকা ক্যাশ ড্রয়ারে রেখে ড্রয়ার বন্ধ করুন।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2918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D47A1"/>
                </a:solidFill>
                <a:latin typeface="Segoe UI"/>
              </a:defRPr>
            </a:pPr>
            <a:r>
              <a:t>বিকাশ ও ডিজিটাল পেমেন্ট</a:t>
            </a:r>
          </a:p>
          <a:p>
            <a:pPr>
              <a:defRPr sz="1100" b="1">
                <a:solidFill>
                  <a:srgbClr val="009688"/>
                </a:solidFill>
                <a:latin typeface="Segoe UI"/>
              </a:defRPr>
            </a:pPr>
            <a:r>
              <a:t>[Digital Payment]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রোগী বিকাশ বা নগদ দিতে চাইলে 'bKash/Nagad' সিলেক্ট করুন।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কাউন্টারের সামনে থাকা অফিসিয়াল QR কোড স্ক্যান করতে বলুন।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পেমেন্ট সফল হলে রোগীর মোবাইল থেকে TrxID দেখে সফটওয়্যারে ইনপুট দিন।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কার্ড পেমেন্ট হলে POS মেশিনের স্লিপের শেষ ৪ ডিজিট লিখুন।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D47A1"/>
                </a:solidFill>
                <a:latin typeface="Segoe UI"/>
              </a:defRPr>
            </a:pPr>
            <a:r>
              <a:t>পেমেন্টের নির্ভুল নিয়মাবলী</a:t>
            </a:r>
          </a:p>
          <a:p>
            <a:pPr>
              <a:defRPr sz="1100" b="1">
                <a:solidFill>
                  <a:srgbClr val="009688"/>
                </a:solidFill>
                <a:latin typeface="Segoe UI"/>
              </a:defRPr>
            </a:pPr>
            <a:r>
              <a:t>[Zero-Error Rule]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নিয়ম ১: টাকা পাওয়ার আগে কখনো 'Paid' বাটনে চাপবেন না।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নিয়ম ২: প্রতিটি পেমেন্টের সাথে সাথে অটো ইনভয়েস জেনারেট হবে।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নিয়ম ৩: কোনো বাকি (Due) থাকলে তা রোগীর প্রোফাইলে স্বয়ংক্রিয় লাল কালিতে দেখাবে।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মানি রিসিট রোগীকে বুঝিয়ে দিন।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৬. জরুরি রোগী: ফাস্ট-ট্র্যাক ট্রায়াজ (Emergency Triage)</a:t>
            </a:r>
          </a:p>
          <a:p>
            <a:pPr>
              <a:defRPr sz="1300">
                <a:solidFill>
                  <a:srgbClr val="C8E6F0"/>
                </a:solidFill>
                <a:latin typeface="Segoe UI"/>
              </a:defRPr>
            </a:pPr>
            <a:r>
              <a:t>সংকটাপন্ন রোগীর ক্ষেত্রে রিসেপশনের জীবন বাঁচানোর দায়িত্ব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28600"/>
            <a:ext cx="2011680" cy="594360"/>
          </a:xfrm>
          <a:prstGeom prst="roundRect">
            <a:avLst/>
          </a:prstGeom>
          <a:solidFill>
            <a:srgbClr val="FF6F00"/>
          </a:solidFill>
          <a:ln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ধাপ ০৬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2918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D47A1"/>
                </a:solidFill>
                <a:latin typeface="Segoe UI"/>
              </a:defRPr>
            </a:pPr>
            <a:r>
              <a:t>কোন রোগীরা জরুরি (Emergency)?</a:t>
            </a:r>
          </a:p>
          <a:p>
            <a:pPr>
              <a:defRPr sz="1100" b="1">
                <a:solidFill>
                  <a:srgbClr val="009688"/>
                </a:solidFill>
                <a:latin typeface="Segoe UI"/>
              </a:defRPr>
            </a:pPr>
            <a:r>
              <a:t>[Emergency Criteria]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১. সড়ক দুর্ঘটনা বা রক্তক্ষরণ হচ্ছে এমন রোগী।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২. তীব্র বুকে ব্যথা / হার্ট অ্যাটাক বা স্ট্রোকের লক্ষণ।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৩. তীব্র শ্বাসকষ্ট বা অজ্ঞান রোগী।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৪. বিষপান বা আগুনে পোড়া রোগী।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2918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D47A1"/>
                </a:solidFill>
                <a:latin typeface="Segoe UI"/>
              </a:defRPr>
            </a:pPr>
            <a:r>
              <a:t>জিরো-সেকেন্ড বিলম্ব নীতি (Zero Delay)</a:t>
            </a:r>
          </a:p>
          <a:p>
            <a:pPr>
              <a:defRPr sz="1100" b="1">
                <a:solidFill>
                  <a:srgbClr val="009688"/>
                </a:solidFill>
                <a:latin typeface="Segoe UI"/>
              </a:defRPr>
            </a:pPr>
            <a:r>
              <a:t>[Life First Rule]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সবার আগে রোগীকে ইমার্জেন্সি রুমে ট্রলি বা হুইলচেয়ারে পাঠান!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টাকা বা রেজিস্ট্রেশনের জন্য ১ সেকেন্ডও রোগীকে আটকে রাখবেন না।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ডাক্তার ও নার্সকে সাথে সাথে খবর দিন।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জীবন বাঁচানোই হাসপাতালের প্রথম ও প্রধান কাজ।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D47A1"/>
                </a:solidFill>
                <a:latin typeface="Segoe UI"/>
              </a:defRPr>
            </a:pPr>
            <a:r>
              <a:t>ইমার্জেন্সি রেজিস্ট্রেশন কীভাবে করবেন</a:t>
            </a:r>
          </a:p>
          <a:p>
            <a:pPr>
              <a:defRPr sz="1100" b="1">
                <a:solidFill>
                  <a:srgbClr val="009688"/>
                </a:solidFill>
                <a:latin typeface="Segoe UI"/>
              </a:defRPr>
            </a:pPr>
            <a:r>
              <a:t>[Fast-Track Protocol]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স্ক্রিনে থাকা লাল 'EMERGENCY FAST-TRACK' বাটনে চাপুন (বা F4 চাপুন)।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রোগীর আত্মীয়কে বলুন পরে নাম ও ঠিকানা দিয়ে যেতে।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সিস্টেম একটি তাৎক্ষণিক ইমার্জেন্সি আইডি খুলে ট্র্যাকিং চালু করবে।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রোগী বিপদমুক্ত হওয়ার পর স্বাভাবিক বিলিং সম্পন্ন করুন।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৭. ভর্তি রোগী ও সিট/কেবিন বরাদ্দ (IPD Bed Allocation)</a:t>
            </a:r>
          </a:p>
          <a:p>
            <a:pPr>
              <a:defRPr sz="1300">
                <a:solidFill>
                  <a:srgbClr val="C8E6F0"/>
                </a:solidFill>
                <a:latin typeface="Segoe UI"/>
              </a:defRPr>
            </a:pPr>
            <a:r>
              <a:t>রোগী হাসপাতালে ভর্তি হলে কেবিন বা সিট দেওয়ার সহজ নিয়ম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28600"/>
            <a:ext cx="2011680" cy="594360"/>
          </a:xfrm>
          <a:prstGeom prst="roundRect">
            <a:avLst/>
          </a:prstGeom>
          <a:solidFill>
            <a:srgbClr val="FF6F00"/>
          </a:solidFill>
          <a:ln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ধাপ ০৭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2918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D47A1"/>
                </a:solidFill>
                <a:latin typeface="Segoe UI"/>
              </a:defRPr>
            </a:pPr>
            <a:r>
              <a:t>ধাপ ১: বেড সিলেকশন ম্যাট্রিক্স</a:t>
            </a:r>
          </a:p>
          <a:p>
            <a:pPr>
              <a:defRPr sz="1100" b="1">
                <a:solidFill>
                  <a:srgbClr val="009688"/>
                </a:solidFill>
                <a:latin typeface="Segoe UI"/>
              </a:defRPr>
            </a:pPr>
            <a:r>
              <a:t>[Color Matrix]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'IPD Admission' মেনুতে ক্লিক করুন।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স্ক্রিনে পুরো হাসপাতালের সব রুমের কালার-কোড ম্যাপ দেখতে পাবেন: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সবুজ কালার = বেড সম্পূর্ণ খালি (Ready for patient)।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লাল কালার = বেড ইতিমধ্যে ভর্তি (Occupied)।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হলুদ কালার = রোগীকে রিলিজ দেওয়া হয়েছে, বেড পরিষ্কার হচ্ছে।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2918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D47A1"/>
                </a:solidFill>
                <a:latin typeface="Segoe UI"/>
              </a:defRPr>
            </a:pPr>
            <a:r>
              <a:t>ধাপ ২: রোগীর পছন্দ ও সামর্থ্য</a:t>
            </a:r>
          </a:p>
          <a:p>
            <a:pPr>
              <a:defRPr sz="1100" b="1">
                <a:solidFill>
                  <a:srgbClr val="009688"/>
                </a:solidFill>
                <a:latin typeface="Segoe UI"/>
              </a:defRPr>
            </a:pPr>
            <a:r>
              <a:t>[Cabin Categories]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রোগী বা তার পরিবারকে অপশনগুলো সুন্দর করে বুঝিয়ে বলুন: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১. জেনারেল ওয়ার্ড (পুরুষ / মহিলা আলাদা)।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২. সেমি-কেবিন / এসি নন-এসি কেবিন।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৩. ভিআইপি ডিলাক্স কেবিন বা আইসিইউ (ICU/CCU)।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প্রতিদিনের ভাড়া ও সুবিধাসমূহ বুঝিয়ে বলুন।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D47A1"/>
                </a:solidFill>
                <a:latin typeface="Segoe UI"/>
              </a:defRPr>
            </a:pPr>
            <a:r>
              <a:t>ধাপ ৩: অগ্রিম ডিপোজিট ও ভর্তি ফর্ম</a:t>
            </a:r>
          </a:p>
          <a:p>
            <a:pPr>
              <a:defRPr sz="1100" b="1">
                <a:solidFill>
                  <a:srgbClr val="009688"/>
                </a:solidFill>
                <a:latin typeface="Segoe UI"/>
              </a:defRPr>
            </a:pPr>
            <a:r>
              <a:t>[Admission Deposit]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খালি বেডের উপর ক্লিক করলেই রোগীর নামে বুকিং হয়ে যাবে।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ভর্তি ফি / অ্যাডভান্স ডিপোজিট সংগ্রহ করুন (যেমন ৳ ৫,০০০ বা ৳ ১০,০০০)।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ডিপোজিটের মানি রিসিট রোগীকে দিন।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ওয়ার্ড বয়কে রোগীর ফাইলসহ নির্দিষ্ট কেবিনে যাওয়ার নির্দেশ দিন।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৮. ভুল হলে কি করবেন? (Mistake Correction &amp; Void)</a:t>
            </a:r>
          </a:p>
          <a:p>
            <a:pPr>
              <a:defRPr sz="1300">
                <a:solidFill>
                  <a:srgbClr val="C8E6F0"/>
                </a:solidFill>
                <a:latin typeface="Segoe UI"/>
              </a:defRPr>
            </a:pPr>
            <a:r>
              <a:t>ভয় পাওয়ার কিছু নেই! সব ভুলের নিরাপদ সমাধানের নিয়ম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28600"/>
            <a:ext cx="2011680" cy="594360"/>
          </a:xfrm>
          <a:prstGeom prst="roundRect">
            <a:avLst/>
          </a:prstGeom>
          <a:solidFill>
            <a:srgbClr val="FF6F00"/>
          </a:solidFill>
          <a:ln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ধাপ ০৮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2918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D47A1"/>
                </a:solidFill>
                <a:latin typeface="Segoe UI"/>
              </a:defRPr>
            </a:pPr>
            <a:r>
              <a:t>কেস ১: নাম বা বয়স ভুল হয়েছে</a:t>
            </a:r>
          </a:p>
          <a:p>
            <a:pPr>
              <a:defRPr sz="1100" b="1">
                <a:solidFill>
                  <a:srgbClr val="009688"/>
                </a:solidFill>
                <a:latin typeface="Segoe UI"/>
              </a:defRPr>
            </a:pPr>
            <a:r>
              <a:t>[Profile Edit]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কোনো চিন্তা নেই! রোগীর প্রোফাইল ওপেন করুন।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ডানপাশের 'Edit Patient' পেনসিল আইকনে ক্লিক করুন।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সঠিক বানান বা বয়স লিখে 'Update' চাপুন।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মুহূর্তের মধ্যে সঠিক তথ্য সেভ হয়ে যাবে।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2918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D47A1"/>
                </a:solidFill>
                <a:latin typeface="Segoe UI"/>
              </a:defRPr>
            </a:pPr>
            <a:r>
              <a:t>কেস ২: ভুল ডাক্তার বা টেস্ট সিলেক্ট হয়েছে</a:t>
            </a:r>
          </a:p>
          <a:p>
            <a:pPr>
              <a:defRPr sz="1100" b="1">
                <a:solidFill>
                  <a:srgbClr val="009688"/>
                </a:solidFill>
                <a:latin typeface="Segoe UI"/>
              </a:defRPr>
            </a:pPr>
            <a:r>
              <a:t>[Safe Void]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যদি ভুল কোনো সার্ভিসের বিল হয়ে যায়: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ইনভয়েসের পাশে থাকা 'Void Service' বাটন চাপুন।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কারণ লিখুন (যেমন: 'রোগী অন্য ডাক্তারের কাছে যাবেন')।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ভুল সার্ভিসটি বাতিল হয়ে সঠিক অংক হিসাবভুক্ত হবে।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সিস্টেমের একাউন্টিং সবসময় নিখুঁত ব্যালেন্স রাখবে।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D47A1"/>
                </a:solidFill>
                <a:latin typeface="Segoe UI"/>
              </a:defRPr>
            </a:pPr>
            <a:r>
              <a:t>যা কখনো করবেন না (সতর্কতা)</a:t>
            </a:r>
          </a:p>
          <a:p>
            <a:pPr>
              <a:defRPr sz="1100" b="1">
                <a:solidFill>
                  <a:srgbClr val="009688"/>
                </a:solidFill>
                <a:latin typeface="Segoe UI"/>
              </a:defRPr>
            </a:pPr>
            <a:r>
              <a:t>[Strict Warning]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সতর্কতা ১: রোগীর আসল ডেটা না জেনে ডিলিট করার চেষ্টা করবেন না।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সতর্কতা ২: টাকা ফেরত দিলে সিস্টেমে অবশ্যই 'Refund' এন্ট্রি করবেন।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সতর্কতা ৩: কোনো সমস্যা আটকে গেলে সরাসরি সুপারভাইজারকে জানান।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সিস্টেমের সবকিছু অডিট লগে সুরক্ষিত থাকে।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৯. শিফট সমাপ্তি ও ক্যাশ মেলানো (Shift Closing &amp; Cash)</a:t>
            </a:r>
          </a:p>
          <a:p>
            <a:pPr>
              <a:defRPr sz="1300">
                <a:solidFill>
                  <a:srgbClr val="C8E6F0"/>
                </a:solidFill>
                <a:latin typeface="Segoe UI"/>
              </a:defRPr>
            </a:pPr>
            <a:r>
              <a:t>ডিউটি শেষে নির্ভুলভাবে টাকা গুনে পরবর্তী শিফটে হ্যান্ডওভার করার নিয়ম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28600"/>
            <a:ext cx="2011680" cy="594360"/>
          </a:xfrm>
          <a:prstGeom prst="roundRect">
            <a:avLst/>
          </a:prstGeom>
          <a:solidFill>
            <a:srgbClr val="FF6F00"/>
          </a:solidFill>
          <a:ln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ধাপ ০৯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2918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D47A1"/>
                </a:solidFill>
                <a:latin typeface="Segoe UI"/>
              </a:defRPr>
            </a:pPr>
            <a:r>
              <a:t>ধাপ ১: শিফট ক্লোজিং স্ক্রিন ওপেন</a:t>
            </a:r>
          </a:p>
          <a:p>
            <a:pPr>
              <a:defRPr sz="1100" b="1">
                <a:solidFill>
                  <a:srgbClr val="009688"/>
                </a:solidFill>
                <a:latin typeface="Segoe UI"/>
              </a:defRPr>
            </a:pPr>
            <a:r>
              <a:t>[Shift Screen]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ডিউটি শেষে ড্যাশবোর্ডের উপরে 'End Shift' বাটনে ক্লিক করুন।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স্ক্রিনে সারাদিনের মোট কালেকশন দেখতে পাবেন: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- মোট ক্যাশ কালেকশন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- মোট বিকাশ / নগদ কালেকশন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- মোট কার্ড কালেকশন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- মোট রিফান্ড ও নেট ক্যাশ ব্যালেন্স।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2918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D47A1"/>
                </a:solidFill>
                <a:latin typeface="Segoe UI"/>
              </a:defRPr>
            </a:pPr>
            <a:r>
              <a:t>ধাপ ২: ক্যাশ টাকা গুনে এন্ট্রি দিন</a:t>
            </a:r>
          </a:p>
          <a:p>
            <a:pPr>
              <a:defRPr sz="1100" b="1">
                <a:solidFill>
                  <a:srgbClr val="009688"/>
                </a:solidFill>
                <a:latin typeface="Segoe UI"/>
              </a:defRPr>
            </a:pPr>
            <a:r>
              <a:t>[Cash Denomination]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ক্যাশ ড্রয়ার খুলে সব টাকা সামনে রাখুন।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১০০০, ৫০০, ২০০, ১০০ টাকার নোটগুলো গুনে সফটওয়্যারে সংখ্যা লিখুন।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সফটওয়্যার স্বয়ংক্রিয়ভাবে দেখাবে: Difference = ৳ 0.00 (Perfect Match!)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যদি পার্থক্য থাকে তাহলে কোনো ভাউচার বা খরচ বাদ পড়েছে কিনা চেক করুন।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D47A1"/>
                </a:solidFill>
                <a:latin typeface="Segoe UI"/>
              </a:defRPr>
            </a:pPr>
            <a:r>
              <a:t>ধাপ ৩: রিপোর্ট প্রিন্ট ও হ্যান্ডওভার</a:t>
            </a:r>
          </a:p>
          <a:p>
            <a:pPr>
              <a:defRPr sz="1100" b="1">
                <a:solidFill>
                  <a:srgbClr val="009688"/>
                </a:solidFill>
                <a:latin typeface="Segoe UI"/>
              </a:defRPr>
            </a:pPr>
            <a:r>
              <a:t>[Handover Complete]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'Print Shift Summary' বাটনে ক্লিক করে শিফট রিপোর্ট প্রিন্ট করুন।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রিপোর্টে নিজের স্বাক্ষর করুন।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পরবর্তী রিসেপশনিস্টের হাতে টাকা ও প্রিন্ট করা কপি বুঝিয়ে দিয়ে স্বাক্ষর নিন।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লগআউট করে নিশ্চিন্তে বাড়ি যান!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১০. দ্রুত কাজের জন্য কীবোর্ড শর্টকাট (Keyboard Shortcuts)</a:t>
            </a:r>
          </a:p>
          <a:p>
            <a:pPr>
              <a:defRPr sz="1300">
                <a:solidFill>
                  <a:srgbClr val="C8E6F0"/>
                </a:solidFill>
                <a:latin typeface="Segoe UI"/>
              </a:defRPr>
            </a:pPr>
            <a:r>
              <a:t>মাউস ছাড়া বিদ্যুৎ গতিতে কাজ করার জাদুকরী কি-বোর্ড শর্টকাট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28600"/>
            <a:ext cx="2011680" cy="594360"/>
          </a:xfrm>
          <a:prstGeom prst="roundRect">
            <a:avLst/>
          </a:prstGeom>
          <a:solidFill>
            <a:srgbClr val="FF6F00"/>
          </a:solidFill>
          <a:ln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শর্টকাট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2918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D47A1"/>
                </a:solidFill>
                <a:latin typeface="Segoe UI"/>
              </a:defRPr>
            </a:pPr>
            <a:r>
              <a:t>প্রধান শর্টকাট তালিকা</a:t>
            </a:r>
          </a:p>
          <a:p>
            <a:pPr>
              <a:defRPr sz="1100" b="1">
                <a:solidFill>
                  <a:srgbClr val="009688"/>
                </a:solidFill>
                <a:latin typeface="Segoe UI"/>
              </a:defRPr>
            </a:pPr>
            <a:r>
              <a:t>[Fast Keys]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Alt + N : নতুন রোগী নিবন্ধন (New Patient)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Alt + B : নতুন বিলিং স্ক্রিন (New Billing)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Alt + D : ডাক্তার তালিকা ও শিডিউল (Doctors)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Ctrl + P : সরাসরি থার্মাল প্রিন্ট (Instant Print)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F2 : দ্রুত রোগী খোঁজা (Global Patient Search)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F4 : ইমার্জেন্সি রেড অ্যালার্ট (Emergency Triage)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Esc : যেকোনো উইন্ডো বা পপআপ বন্ধ করা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2918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D47A1"/>
                </a:solidFill>
                <a:latin typeface="Segoe UI"/>
              </a:defRPr>
            </a:pPr>
            <a:r>
              <a:t>রোগী খোঁজার জাদুকরী টিপস</a:t>
            </a:r>
          </a:p>
          <a:p>
            <a:pPr>
              <a:defRPr sz="1100" b="1">
                <a:solidFill>
                  <a:srgbClr val="009688"/>
                </a:solidFill>
                <a:latin typeface="Segoe UI"/>
              </a:defRPr>
            </a:pPr>
            <a:r>
              <a:t>[Smart Search]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রোগী আগে কখনো আসলে তার মোবাইল নম্বরের শেষ ৪ ডিজিট লিখলেই চলে আসবে।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অথবা রোগীর নাম লিখে এন্টার দিলেই পূর্বের সমস্ত হিস্ট্রি চলে আসবে।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একই রোগীর জন্য কখনোই দ্বিতীয়বার নতুন আইডি বানাবেন না!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পুরনো আইডিতেই নতুন ভিজিট যুক্ত করুন।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D47A1"/>
                </a:solidFill>
                <a:latin typeface="Segoe UI"/>
              </a:defRPr>
            </a:pPr>
            <a:r>
              <a:t>রিসেপশনিস্ট এটিকেট ও ব্যবহার</a:t>
            </a:r>
          </a:p>
          <a:p>
            <a:pPr>
              <a:defRPr sz="1100" b="1">
                <a:solidFill>
                  <a:srgbClr val="009688"/>
                </a:solidFill>
                <a:latin typeface="Segoe UI"/>
              </a:defRPr>
            </a:pPr>
            <a:r>
              <a:t>[Hospitality Best Practice]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১. রোগী আসলে প্রথমে হাসিমুখে সালাম বা নমস্কার দিন।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২. নরম ও আন্তরিক গলায় কথা বলুন; অসুস্থ রোগী ও স্বজনরা অস্থির থাকতে পারেন।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৩. দিকনির্দেশনা স্পষ্ট করে দিন (ডাক্তার কোন তলায় ও কোন রুমে)।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আপনার একটি মিষ্টি হাসিতে রোগীর অর্ধেক কষ্ট কমে যায়!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১১. ২৪/৭ আইটি সহায়তা ও হেল্পলাইন (IT Support &amp; Contacts)</a:t>
            </a:r>
          </a:p>
          <a:p>
            <a:pPr>
              <a:defRPr sz="1300">
                <a:solidFill>
                  <a:srgbClr val="C8E6F0"/>
                </a:solidFill>
                <a:latin typeface="Segoe UI"/>
              </a:defRPr>
            </a:pPr>
            <a:r>
              <a:t>সিস্টেমে কোনো সমস্যা হলে সাথে সাথে যোগাযোগের নির্ভরযোগ্য মাধ্যম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28600"/>
            <a:ext cx="2011680" cy="594360"/>
          </a:xfrm>
          <a:prstGeom prst="roundRect">
            <a:avLst/>
          </a:prstGeom>
          <a:solidFill>
            <a:srgbClr val="FF6F00"/>
          </a:solidFill>
          <a:ln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সহায়তা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2918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D47A1"/>
                </a:solidFill>
                <a:latin typeface="Segoe UI"/>
              </a:defRPr>
            </a:pPr>
            <a:r>
              <a:t>২৪/৭ টেলিগ্রাম অটোমেশন সাপোর্ট</a:t>
            </a:r>
          </a:p>
          <a:p>
            <a:pPr>
              <a:defRPr sz="1100" b="1">
                <a:solidFill>
                  <a:srgbClr val="009688"/>
                </a:solidFill>
                <a:latin typeface="Segoe UI"/>
              </a:defRPr>
            </a:pPr>
            <a:r>
              <a:t>[Telegram Bot Cloud]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যেকোনো টেকনিক্যাল প্রশ্ন বা রিপোর্টে টেলিগ্রাম ব্যবহার করুন।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অফিসিয়াল টেলিগ্রাম বট: @onnesha_hospital_bot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টেলিগ্রামে যেকোনো স্ট্যাটাস বা জরুরি অ্যালার্ট সরাসরি চেক করা যায়।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আপনার মোবাইল থেকেও সম্পূর্ণ সিস্টেম মনিটর করা সম্ভব।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2918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D47A1"/>
                </a:solidFill>
                <a:latin typeface="Segoe UI"/>
              </a:defRPr>
            </a:pPr>
            <a:r>
              <a:t>জরুরি হাসপাতাল হটলাইন নম্বর</a:t>
            </a:r>
          </a:p>
          <a:p>
            <a:pPr>
              <a:defRPr sz="1100" b="1">
                <a:solidFill>
                  <a:srgbClr val="009688"/>
                </a:solidFill>
                <a:latin typeface="Segoe UI"/>
              </a:defRPr>
            </a:pPr>
            <a:r>
              <a:t>[Emergency Hotlines]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হাসপাতাল এডমিন ও ম্যানেজার ফোন: ০১৭১X-XXXXXX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আইটি সাপোর্ট ইনচার্জ: ০১৭XX-XXXXXX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ইমার্জেন্সি ও অ্যাম্বুলেন্স হটলাইন: ০১৯XX-XXXXXX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ফার্মেসি ও প্যাথলজি ল্যাব এক্সটেনশন: ১০২, ১০৫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ডাক্তার ডিউটি রুম এক্সটেনশন: ২০১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D47A1"/>
                </a:solidFill>
                <a:latin typeface="Segoe UI"/>
              </a:defRPr>
            </a:pPr>
            <a:r>
              <a:t>সিস্টেমের অবস্থান ও নিরাপত্তা</a:t>
            </a:r>
          </a:p>
          <a:p>
            <a:pPr>
              <a:defRPr sz="1100" b="1">
                <a:solidFill>
                  <a:srgbClr val="009688"/>
                </a:solidFill>
                <a:latin typeface="Segoe UI"/>
              </a:defRPr>
            </a:pPr>
            <a:r>
              <a:t>[Security &amp; Cloud]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সিস্টেম সংস্করণ: v1.1.90 (Latest Production)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ক্লাউড প্ল্যাটফর্ম: Cloudflare Pages Edge Network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ডাটাবেস: Supabase Enterprise Database (Auto-Backup)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আপনার প্রতি সেকেন্ডের কাজ ক্লাউডে ১০০% সুরক্ষিত!</a:t>
            </a:r>
          </a:p>
          <a:p>
            <a:pPr>
              <a:spcBef>
                <a:spcPts val="400"/>
              </a:spcBef>
              <a:defRPr sz="1200">
                <a:solidFill>
                  <a:srgbClr val="212121"/>
                </a:solidFill>
                <a:latin typeface="Segoe UI"/>
              </a:defRPr>
            </a:pPr>
            <a:r>
              <a:t>- ধন্যবাদ ও শুভ কর্মদিবস!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